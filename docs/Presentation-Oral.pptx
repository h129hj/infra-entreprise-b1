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548640"/>
            <a:ext cx="2377440" cy="320040"/>
          </a:xfrm>
          <a:prstGeom prst="roundRect">
            <a:avLst>
              <a:gd name="adj" fmla="val 6000"/>
            </a:avLst>
          </a:prstGeom>
          <a:solidFill>
            <a:srgbClr val="0D1117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48640"/>
            <a:ext cx="2377440" cy="320040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ctr"/>
            <a:r>
              <a:rPr sz="1100" b="0">
                <a:solidFill>
                  <a:srgbClr val="8B949E"/>
                </a:solidFill>
                <a:latin typeface="Inter"/>
              </a:rPr>
              <a:t>UF B1 INFRA · Ynov Informatique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972800" cy="237744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/>
            <a:r>
              <a:rPr sz="5400" b="1">
                <a:solidFill>
                  <a:srgbClr val="E6EDF3"/>
                </a:solidFill>
                <a:latin typeface="Inter"/>
              </a:rPr>
              <a:t>Conception &amp; déploiement</a:t>
            </a:r>
          </a:p>
          <a:p>
            <a:pPr algn="l"/>
            <a:r>
              <a:rPr sz="5400" b="1">
                <a:solidFill>
                  <a:srgbClr val="E6EDF3"/>
                </a:solidFill>
                <a:latin typeface="Inter"/>
              </a:rPr>
              <a:t>d'une infrastructure</a:t>
            </a:r>
          </a:p>
          <a:p>
            <a:pPr algn="l"/>
            <a:r>
              <a:rPr sz="5400" b="1">
                <a:solidFill>
                  <a:srgbClr val="E6EDF3"/>
                </a:solidFill>
                <a:latin typeface="Inter"/>
              </a:rPr>
              <a:t>d'entreprise </a:t>
            </a:r>
            <a:r>
              <a:rPr sz="5400" b="1">
                <a:solidFill>
                  <a:srgbClr val="58A6FF"/>
                </a:solidFill>
                <a:latin typeface="Inter"/>
              </a:rPr>
              <a:t>sécurisée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93776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/>
            <a:r>
              <a:rPr sz="1800" b="0">
                <a:solidFill>
                  <a:srgbClr val="E6EDF3"/>
                </a:solidFill>
                <a:latin typeface="Inter"/>
              </a:rPr>
              <a:t>Hugo BERTON · Shakil KHALDI · Mathéo AMOUROUX — Groupe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4406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/>
            <a:r>
              <a:rPr sz="1400" b="0">
                <a:solidFill>
                  <a:srgbClr val="8B949E"/>
                </a:solidFill>
                <a:latin typeface="Inter"/>
              </a:rPr>
              <a:t>Oral final — 29 mai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/>
            <a:r>
              <a:rPr sz="1000" b="0">
                <a:solidFill>
                  <a:srgbClr val="8B949E"/>
                </a:solidFill>
                <a:latin typeface="Inter"/>
              </a:rPr>
              <a:t>Projet B1 INFRA · Hugo BERTON · Shakil KHALDI · Mathéo AMOUROUX  —  Groupe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922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r"/>
            <a:r>
              <a:rPr sz="1000" b="0">
                <a:solidFill>
                  <a:srgbClr val="8B949E"/>
                </a:solidFill>
                <a:latin typeface="Inter"/>
              </a:rPr>
              <a:t>1 /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/>
            <a:r>
              <a:rPr sz="3000" b="1">
                <a:solidFill>
                  <a:srgbClr val="58A6FF"/>
                </a:solidFill>
                <a:latin typeface="Inter"/>
              </a:rPr>
              <a:t>Contexte &amp; besoin client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/>
            <a:r>
              <a:rPr sz="1700" b="0">
                <a:solidFill>
                  <a:srgbClr val="E6EDF3"/>
                </a:solidFill>
                <a:latin typeface="Inter"/>
              </a:rPr>
              <a:t>Siège social d'une PME en croissance — l'équipe doit :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267712"/>
            <a:ext cx="109728" cy="109728"/>
          </a:xfrm>
          <a:prstGeom prst="rect">
            <a:avLst/>
          </a:prstGeom>
          <a:solidFill>
            <a:srgbClr val="58A6FF"/>
          </a:solidFill>
          <a:ln w="9525">
            <a:solidFill>
              <a:srgbClr val="58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10312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/>
            <a:r>
              <a:rPr sz="1600" b="1">
                <a:solidFill>
                  <a:srgbClr val="E6EDF3"/>
                </a:solidFill>
                <a:latin typeface="Inter"/>
              </a:rPr>
              <a:t>Segmenter</a:t>
            </a:r>
            <a:r>
              <a:rPr sz="1600" b="0">
                <a:solidFill>
                  <a:srgbClr val="E6EDF3"/>
                </a:solidFill>
                <a:latin typeface="Inter"/>
              </a:rPr>
              <a:t> le réseau interne (RH, Compta, Technique) pour réduire la surface d'attaque.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770632"/>
            <a:ext cx="109728" cy="109728"/>
          </a:xfrm>
          <a:prstGeom prst="rect">
            <a:avLst/>
          </a:prstGeom>
          <a:solidFill>
            <a:srgbClr val="58A6FF"/>
          </a:solidFill>
          <a:ln w="9525">
            <a:solidFill>
              <a:srgbClr val="58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60604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/>
            <a:r>
              <a:rPr sz="1600" b="1">
                <a:solidFill>
                  <a:srgbClr val="E6EDF3"/>
                </a:solidFill>
                <a:latin typeface="Inter"/>
              </a:rPr>
              <a:t>Héberger plusieurs applications web</a:t>
            </a:r>
            <a:r>
              <a:rPr sz="1600" b="0">
                <a:solidFill>
                  <a:srgbClr val="E6EDF3"/>
                </a:solidFill>
                <a:latin typeface="Inter"/>
              </a:rPr>
              <a:t> (PHP + Node) sur un même serveur, en HTTPS, avec sous-domaines distincts.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273552"/>
            <a:ext cx="109728" cy="109728"/>
          </a:xfrm>
          <a:prstGeom prst="rect">
            <a:avLst/>
          </a:prstGeom>
          <a:solidFill>
            <a:srgbClr val="58A6FF"/>
          </a:solidFill>
          <a:ln w="9525">
            <a:solidFill>
              <a:srgbClr val="58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10896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/>
            <a:r>
              <a:rPr sz="1600" b="1">
                <a:solidFill>
                  <a:srgbClr val="E6EDF3"/>
                </a:solidFill>
                <a:latin typeface="Inter"/>
              </a:rPr>
              <a:t>Sauvegarder</a:t>
            </a:r>
            <a:r>
              <a:rPr sz="1600" b="0">
                <a:solidFill>
                  <a:srgbClr val="E6EDF3"/>
                </a:solidFill>
                <a:latin typeface="Inter"/>
              </a:rPr>
              <a:t> automatiquement les données critiques et restaurer rapidement.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776472"/>
            <a:ext cx="109728" cy="109728"/>
          </a:xfrm>
          <a:prstGeom prst="rect">
            <a:avLst/>
          </a:prstGeom>
          <a:solidFill>
            <a:srgbClr val="58A6FF"/>
          </a:solidFill>
          <a:ln w="9525">
            <a:solidFill>
              <a:srgbClr val="58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61188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/>
            <a:r>
              <a:rPr sz="1600" b="1">
                <a:solidFill>
                  <a:srgbClr val="E6EDF3"/>
                </a:solidFill>
                <a:latin typeface="Inter"/>
              </a:rPr>
              <a:t>Permettre l'accès distant</a:t>
            </a:r>
            <a:r>
              <a:rPr sz="1600" b="0">
                <a:solidFill>
                  <a:srgbClr val="E6EDF3"/>
                </a:solidFill>
                <a:latin typeface="Inter"/>
              </a:rPr>
              <a:t> sécurisé aux ressources internes (télétravail).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4279392"/>
            <a:ext cx="109728" cy="109728"/>
          </a:xfrm>
          <a:prstGeom prst="rect">
            <a:avLst/>
          </a:prstGeom>
          <a:solidFill>
            <a:srgbClr val="58A6FF"/>
          </a:solidFill>
          <a:ln w="9525">
            <a:solidFill>
              <a:srgbClr val="58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11480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/>
            <a:r>
              <a:rPr sz="1600" b="1">
                <a:solidFill>
                  <a:srgbClr val="E6EDF3"/>
                </a:solidFill>
                <a:latin typeface="Inter"/>
              </a:rPr>
              <a:t>Bonus</a:t>
            </a:r>
            <a:r>
              <a:rPr sz="1600" b="0">
                <a:solidFill>
                  <a:srgbClr val="E6EDF3"/>
                </a:solidFill>
                <a:latin typeface="Inter"/>
              </a:rPr>
              <a:t> : partage de fichiers et annuaire centralisé.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5349240"/>
            <a:ext cx="3383280" cy="86868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5440680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/>
            <a:r>
              <a:rPr sz="2200" b="1">
                <a:solidFill>
                  <a:srgbClr val="58A6FF"/>
                </a:solidFill>
                <a:latin typeface="Inter"/>
              </a:rPr>
              <a:t>4 axes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852160"/>
            <a:ext cx="3383280" cy="45720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/>
            <a:r>
              <a:rPr sz="1100" b="0">
                <a:solidFill>
                  <a:srgbClr val="8B949E"/>
                </a:solidFill>
                <a:latin typeface="Inter"/>
              </a:rPr>
              <a:t>réseau · web · sauvegarde · accès distant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0" y="5349240"/>
            <a:ext cx="3383280" cy="86868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0560" y="5440680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/>
            <a:r>
              <a:rPr sz="2200" b="1">
                <a:solidFill>
                  <a:srgbClr val="58A6FF"/>
                </a:solidFill>
                <a:latin typeface="Inter"/>
              </a:rPr>
              <a:t>9 services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5852160"/>
            <a:ext cx="3383280" cy="45720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/>
            <a:r>
              <a:rPr sz="1100" b="0">
                <a:solidFill>
                  <a:srgbClr val="8B949E"/>
                </a:solidFill>
                <a:latin typeface="Inter"/>
              </a:rPr>
              <a:t>conteneurisés et reproductibles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55279" y="5349240"/>
            <a:ext cx="3383280" cy="86868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38159" y="5440680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/>
            <a:r>
              <a:rPr sz="2200" b="1">
                <a:solidFill>
                  <a:srgbClr val="58A6FF"/>
                </a:solidFill>
                <a:latin typeface="Inter"/>
              </a:rPr>
              <a:t>3 ports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8159" y="5852160"/>
            <a:ext cx="3383280" cy="45720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/>
            <a:r>
              <a:rPr sz="1100" b="0">
                <a:solidFill>
                  <a:srgbClr val="8B949E"/>
                </a:solidFill>
                <a:latin typeface="Inter"/>
              </a:rPr>
              <a:t>exposés sur Internet seulement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/>
            <a:r>
              <a:rPr sz="1000" b="0">
                <a:solidFill>
                  <a:srgbClr val="8B949E"/>
                </a:solidFill>
                <a:latin typeface="Inter"/>
              </a:rPr>
              <a:t>Projet B1 INFRA · Hugo BERTON · Shakil KHALDI · Mathéo AMOUROUX  —  Groupe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28655" y="64922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r"/>
            <a:r>
              <a:rPr sz="1000" b="0">
                <a:solidFill>
                  <a:srgbClr val="8B949E"/>
                </a:solidFill>
                <a:latin typeface="Inter"/>
              </a:rP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/>
            <a:r>
              <a:rPr sz="3000" b="1">
                <a:solidFill>
                  <a:srgbClr val="58A6FF"/>
                </a:solidFill>
                <a:latin typeface="Inter"/>
              </a:rPr>
              <a:t>Architecture — vue d'ensemble</a:t>
            </a:r>
          </a:p>
        </p:txBody>
      </p:sp>
      <p:pic>
        <p:nvPicPr>
          <p:cNvPr id="4" name="Picture 3" descr="schema-resea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287" y="1554480"/>
            <a:ext cx="11247120" cy="389548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/>
            <a:r>
              <a:rPr sz="1000" b="0">
                <a:solidFill>
                  <a:srgbClr val="8B949E"/>
                </a:solidFill>
                <a:latin typeface="Inter"/>
              </a:rPr>
              <a:t>Projet B1 INFRA · Hugo BERTON · Shakil KHALDI · Mathéo AMOUROUX  —  Groupe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922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r"/>
            <a:r>
              <a:rPr sz="1000" b="0">
                <a:solidFill>
                  <a:srgbClr val="8B949E"/>
                </a:solidFill>
                <a:latin typeface="Inter"/>
              </a:rP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/>
            <a:r>
              <a:rPr sz="3000" b="1">
                <a:solidFill>
                  <a:srgbClr val="58A6FF"/>
                </a:solidFill>
                <a:latin typeface="Inter"/>
              </a:rPr>
              <a:t>Plan d'adressage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45920"/>
          <a:ext cx="109728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1828800"/>
                <a:gridCol w="4937760"/>
                <a:gridCol w="2651760"/>
              </a:tblGrid>
              <a:tr h="822960"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8B949E"/>
                          </a:solidFill>
                        </a:rPr>
                        <a:t>Zone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8B949E"/>
                          </a:solidFill>
                        </a:rPr>
                        <a:t>Sous-réseau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8B949E"/>
                          </a:solidFill>
                        </a:rPr>
                        <a:t>Hôtes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8B949E"/>
                          </a:solidFill>
                        </a:rPr>
                        <a:t>Particularité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E6EDF3"/>
                          </a:solidFill>
                        </a:rPr>
                        <a:t>DMZ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6EDF3"/>
                          </a:solidFill>
                        </a:rPr>
                        <a:t>172.30.0.0/24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6EDF3"/>
                          </a:solidFill>
                        </a:rPr>
                        <a:t>Reverse proxy · Routeur/pare-feu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6EDF3"/>
                          </a:solidFill>
                        </a:rPr>
                        <a:t>Exposition contrôlée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E6EDF3"/>
                          </a:solidFill>
                        </a:rPr>
                        <a:t>LAN technique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6EDF3"/>
                          </a:solidFill>
                        </a:rPr>
                        <a:t>172.30.10.0/24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6EDF3"/>
                          </a:solidFill>
                        </a:rPr>
                        <a:t>WordPress .20 · Node .30 · DNS .53 · LDAP .60 · Samba .70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6EDF3"/>
                          </a:solidFill>
                        </a:rPr>
                        <a:t>Serveurs applicatifs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E6EDF3"/>
                          </a:solidFill>
                        </a:rPr>
                        <a:t>LAN data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6EDF3"/>
                          </a:solidFill>
                        </a:rPr>
                        <a:t>172.30.20.0/24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6EDF3"/>
                          </a:solidFill>
                        </a:rPr>
                        <a:t>MariaDB .10 · Backup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6EDF3"/>
                          </a:solidFill>
                        </a:rPr>
                        <a:t>internal — sans Internet sortant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E6EDF3"/>
                          </a:solidFill>
                        </a:rPr>
                        <a:t>VPN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6EDF3"/>
                          </a:solidFill>
                        </a:rPr>
                        <a:t>10.13.13.0/24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6EDF3"/>
                          </a:solidFill>
                        </a:rPr>
                        <a:t>WireGuard .1 · hugo .2 · shakil .3 · matheo .4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6EDF3"/>
                          </a:solidFill>
                        </a:rPr>
                        <a:t>Tunnel chiffré 51820/udp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58521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/>
            <a:r>
              <a:rPr sz="1200" b="0">
                <a:solidFill>
                  <a:srgbClr val="8B949E"/>
                </a:solidFill>
                <a:latin typeface="Inter"/>
              </a:rPr>
              <a:t>Ports publics : 18080/tcp · 18443/tcp (web) · 51820/udp (VPN). Tout le reste est interne.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/>
            <a:r>
              <a:rPr sz="1000" b="0">
                <a:solidFill>
                  <a:srgbClr val="8B949E"/>
                </a:solidFill>
                <a:latin typeface="Inter"/>
              </a:rPr>
              <a:t>Projet B1 INFRA · Hugo BERTON · Shakil KHALDI · Mathéo AMOUROUX  —  Groupe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4922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r"/>
            <a:r>
              <a:rPr sz="1000" b="0">
                <a:solidFill>
                  <a:srgbClr val="8B949E"/>
                </a:solidFill>
                <a:latin typeface="Inter"/>
              </a:rPr>
              <a:t>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/>
            <a:r>
              <a:rPr sz="3000" b="1">
                <a:solidFill>
                  <a:srgbClr val="58A6FF"/>
                </a:solidFill>
                <a:latin typeface="Inter"/>
              </a:rPr>
              <a:t>Étape 1 — Réseau &amp; segmentation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91640"/>
            <a:ext cx="3423818" cy="420624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74520"/>
            <a:ext cx="2875178" cy="36576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/>
            <a:r>
              <a:rPr sz="1200" b="1">
                <a:solidFill>
                  <a:srgbClr val="58A6FF"/>
                </a:solidFill>
                <a:latin typeface="Inter"/>
              </a:rPr>
              <a:t>CLOISONNEMENT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377440"/>
            <a:ext cx="2875178" cy="45720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/>
            <a:r>
              <a:rPr sz="1400" b="0">
                <a:solidFill>
                  <a:srgbClr val="E6EDF3"/>
                </a:solidFill>
                <a:latin typeface="Inter"/>
              </a:rPr>
              <a:t>• Trois zones isolées par défaut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2875178" cy="45720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/>
            <a:r>
              <a:rPr sz="1400" b="0">
                <a:solidFill>
                  <a:srgbClr val="E6EDF3"/>
                </a:solidFill>
                <a:latin typeface="Inter"/>
              </a:rPr>
              <a:t>• LAN data internal 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91840"/>
            <a:ext cx="2875178" cy="45720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/>
            <a:r>
              <a:rPr sz="1400" b="0">
                <a:solidFill>
                  <a:srgbClr val="E6EDF3"/>
                </a:solidFill>
                <a:latin typeface="Inter"/>
              </a:rPr>
              <a:t>   la base n'a aucune route sortante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749040"/>
            <a:ext cx="2875178" cy="45720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/>
            <a:r>
              <a:rPr sz="1400" b="0">
                <a:solidFill>
                  <a:srgbClr val="E6EDF3"/>
                </a:solidFill>
                <a:latin typeface="Inter"/>
              </a:rPr>
              <a:t>• DNS + DHCP internes (dnsmasq,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206240"/>
            <a:ext cx="2875178" cy="45720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/>
            <a:r>
              <a:rPr sz="1400" b="0">
                <a:solidFill>
                  <a:srgbClr val="E6EDF3"/>
                </a:solidFill>
                <a:latin typeface="Inter"/>
              </a:rPr>
              <a:t>   zone entreprise.local)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3938" y="1691640"/>
            <a:ext cx="3423818" cy="420624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58258" y="1874520"/>
            <a:ext cx="2875178" cy="36576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/>
            <a:r>
              <a:rPr sz="1200" b="1">
                <a:solidFill>
                  <a:srgbClr val="58A6FF"/>
                </a:solidFill>
                <a:latin typeface="Inter"/>
              </a:rPr>
              <a:t>ROUTEUR / PARE-FEU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58258" y="2377440"/>
            <a:ext cx="2875178" cy="45720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/>
            <a:r>
              <a:rPr sz="1400" b="0">
                <a:solidFill>
                  <a:srgbClr val="E6EDF3"/>
                </a:solidFill>
                <a:latin typeface="Inter"/>
              </a:rPr>
              <a:t>• Conteneur multi-homed (3 interfaces)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58258" y="2834640"/>
            <a:ext cx="2875178" cy="45720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/>
            <a:r>
              <a:rPr sz="1400" b="0">
                <a:solidFill>
                  <a:srgbClr val="E6EDF3"/>
                </a:solidFill>
                <a:latin typeface="Inter"/>
              </a:rPr>
              <a:t>• Règles nftables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58258" y="3291840"/>
            <a:ext cx="2875178" cy="45720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/>
            <a:r>
              <a:rPr sz="1400" b="0">
                <a:solidFill>
                  <a:srgbClr val="E6EDF3"/>
                </a:solidFill>
                <a:latin typeface="Inter"/>
              </a:rPr>
              <a:t>   politique forward = drop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58258" y="3749040"/>
            <a:ext cx="2875178" cy="45720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/>
            <a:r>
              <a:rPr sz="1400" b="0">
                <a:solidFill>
                  <a:srgbClr val="E6EDF3"/>
                </a:solidFill>
                <a:latin typeface="Inter"/>
              </a:rPr>
              <a:t>• Filtrage explicite par flux + compteurs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27796" y="1691640"/>
            <a:ext cx="3423818" cy="420624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02116" y="1874520"/>
            <a:ext cx="2875178" cy="36576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/>
            <a:r>
              <a:rPr sz="1200" b="1">
                <a:solidFill>
                  <a:srgbClr val="58A6FF"/>
                </a:solidFill>
                <a:latin typeface="Inter"/>
              </a:rPr>
              <a:t>DÉMO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02116" y="2377440"/>
            <a:ext cx="2875178" cy="45720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/>
            <a:r>
              <a:rPr sz="1400" b="0">
                <a:solidFill>
                  <a:srgbClr val="E6EDF3"/>
                </a:solidFill>
                <a:latin typeface="Inter"/>
              </a:rPr>
              <a:t>docker logs infra-router-fw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02116" y="2834640"/>
            <a:ext cx="2875178" cy="45720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/>
            <a:r>
              <a:rPr sz="1400" b="0">
                <a:solidFill>
                  <a:srgbClr val="E6EDF3"/>
                </a:solidFill>
                <a:latin typeface="Inter"/>
              </a:rPr>
              <a:t>→ interfaces, règles, et tests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02116" y="3291840"/>
            <a:ext cx="2875178" cy="45720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/>
            <a:r>
              <a:rPr sz="1400" b="0">
                <a:solidFill>
                  <a:srgbClr val="E6EDF3"/>
                </a:solidFill>
                <a:latin typeface="Inter"/>
              </a:rPr>
              <a:t>   de joignabilité inter-zones (OK)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/>
            <a:r>
              <a:rPr sz="1000" b="0">
                <a:solidFill>
                  <a:srgbClr val="8B949E"/>
                </a:solidFill>
                <a:latin typeface="Inter"/>
              </a:rPr>
              <a:t>Projet B1 INFRA · Hugo BERTON · Shakil KHALDI · Mathéo AMOUROUX  —  Groupe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28655" y="64922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r"/>
            <a:r>
              <a:rPr sz="1000" b="0">
                <a:solidFill>
                  <a:srgbClr val="8B949E"/>
                </a:solidFill>
                <a:latin typeface="Inter"/>
              </a:rPr>
              <a:t>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/>
            <a:r>
              <a:rPr sz="3000" b="1">
                <a:solidFill>
                  <a:srgbClr val="58A6FF"/>
                </a:solidFill>
                <a:latin typeface="Inter"/>
              </a:rPr>
              <a:t>Étape 2 — Serveur web multi-applications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91640"/>
            <a:ext cx="6400800" cy="420624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74519"/>
            <a:ext cx="5943600" cy="36576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/>
            <a:r>
              <a:rPr sz="1200" b="1">
                <a:solidFill>
                  <a:srgbClr val="58A6FF"/>
                </a:solidFill>
                <a:latin typeface="Inter"/>
              </a:rPr>
              <a:t>REVERSE PROXY + TLS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331720"/>
            <a:ext cx="5943600" cy="45720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/>
            <a:r>
              <a:rPr sz="1500" b="0">
                <a:solidFill>
                  <a:srgbClr val="E6EDF3"/>
                </a:solidFill>
                <a:latin typeface="Inter"/>
              </a:rPr>
              <a:t>• Caddy termine le TLS (CA interne)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788920"/>
            <a:ext cx="5943600" cy="45720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/>
            <a:r>
              <a:rPr sz="1500" b="0">
                <a:solidFill>
                  <a:srgbClr val="E6EDF3"/>
                </a:solidFill>
                <a:latin typeface="Inter"/>
              </a:rPr>
              <a:t>• Routage par sous-domaine (SNI)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46120"/>
            <a:ext cx="5943600" cy="45720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/>
            <a:r>
              <a:rPr sz="1500" b="0">
                <a:solidFill>
                  <a:srgbClr val="E6EDF3"/>
                </a:solidFill>
                <a:latin typeface="Inter"/>
              </a:rPr>
              <a:t>• 2 applications, 2 sous-domaines,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703320"/>
            <a:ext cx="5943600" cy="45720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/>
            <a:r>
              <a:rPr sz="1500" b="0">
                <a:solidFill>
                  <a:srgbClr val="E6EDF3"/>
                </a:solidFill>
                <a:latin typeface="Inter"/>
              </a:rPr>
              <a:t>   1 entrée HTTPS unique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4389120"/>
            <a:ext cx="2560320" cy="685800"/>
          </a:xfrm>
          <a:prstGeom prst="roundRect">
            <a:avLst>
              <a:gd name="adj" fmla="val 6000"/>
            </a:avLst>
          </a:prstGeom>
          <a:solidFill>
            <a:srgbClr val="0D1117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443984"/>
            <a:ext cx="2560320" cy="292608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ctr"/>
            <a:r>
              <a:rPr sz="1200" b="1">
                <a:solidFill>
                  <a:srgbClr val="58A6FF"/>
                </a:solidFill>
                <a:latin typeface="Inter"/>
              </a:rPr>
              <a:t>Caddy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36592"/>
            <a:ext cx="2560320" cy="292608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ctr"/>
            <a:r>
              <a:rPr sz="1100" b="0">
                <a:solidFill>
                  <a:srgbClr val="8B949E"/>
                </a:solidFill>
                <a:latin typeface="Inter"/>
              </a:rPr>
              <a:t>18080/18443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0" y="4389120"/>
            <a:ext cx="2560320" cy="685800"/>
          </a:xfrm>
          <a:prstGeom prst="roundRect">
            <a:avLst>
              <a:gd name="adj" fmla="val 6000"/>
            </a:avLst>
          </a:prstGeom>
          <a:solidFill>
            <a:srgbClr val="0D1117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0" y="4443984"/>
            <a:ext cx="2560320" cy="292608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ctr"/>
            <a:r>
              <a:rPr sz="1200" b="1">
                <a:solidFill>
                  <a:srgbClr val="58A6FF"/>
                </a:solidFill>
                <a:latin typeface="Inter"/>
              </a:rPr>
              <a:t>WordPress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4736592"/>
            <a:ext cx="2560320" cy="292608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ctr"/>
            <a:r>
              <a:rPr sz="1100" b="0">
                <a:solidFill>
                  <a:srgbClr val="8B949E"/>
                </a:solidFill>
                <a:latin typeface="Inter"/>
              </a:rPr>
              <a:t>:80 PHP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5166359"/>
            <a:ext cx="2560320" cy="685800"/>
          </a:xfrm>
          <a:prstGeom prst="roundRect">
            <a:avLst>
              <a:gd name="adj" fmla="val 6000"/>
            </a:avLst>
          </a:prstGeom>
          <a:solidFill>
            <a:srgbClr val="0D1117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221223"/>
            <a:ext cx="2560320" cy="292608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ctr"/>
            <a:r>
              <a:rPr sz="1200" b="1">
                <a:solidFill>
                  <a:srgbClr val="58A6FF"/>
                </a:solidFill>
                <a:latin typeface="Inter"/>
              </a:rPr>
              <a:t>Node.js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513831"/>
            <a:ext cx="2560320" cy="292608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ctr"/>
            <a:r>
              <a:rPr sz="1100" b="0">
                <a:solidFill>
                  <a:srgbClr val="8B949E"/>
                </a:solidFill>
                <a:latin typeface="Inter"/>
              </a:rPr>
              <a:t>:3000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0" y="5166359"/>
            <a:ext cx="2560320" cy="685800"/>
          </a:xfrm>
          <a:prstGeom prst="roundRect">
            <a:avLst>
              <a:gd name="adj" fmla="val 6000"/>
            </a:avLst>
          </a:prstGeom>
          <a:solidFill>
            <a:srgbClr val="0D1117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0" y="5221223"/>
            <a:ext cx="2560320" cy="292608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ctr"/>
            <a:r>
              <a:rPr sz="1200" b="1">
                <a:solidFill>
                  <a:srgbClr val="58A6FF"/>
                </a:solidFill>
                <a:latin typeface="Inter"/>
              </a:rPr>
              <a:t>MariaDB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5513831"/>
            <a:ext cx="2560320" cy="292608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ctr"/>
            <a:r>
              <a:rPr sz="1100" b="0">
                <a:solidFill>
                  <a:srgbClr val="8B949E"/>
                </a:solidFill>
                <a:latin typeface="Inter"/>
              </a:rPr>
              <a:t>data zone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0" y="1691640"/>
            <a:ext cx="4297680" cy="420624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89520" y="1874519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/>
            <a:r>
              <a:rPr sz="1200" b="1">
                <a:solidFill>
                  <a:srgbClr val="58A6FF"/>
                </a:solidFill>
                <a:latin typeface="Inter"/>
              </a:rPr>
              <a:t>DÉMO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0" y="2331720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/>
            <a:r>
              <a:rPr sz="1300" b="0">
                <a:solidFill>
                  <a:srgbClr val="E6EDF3"/>
                </a:solidFill>
                <a:latin typeface="Inter"/>
              </a:rPr>
              <a:t>https://wordpress.entreprise.local:18443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20" y="2788920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/>
            <a:r>
              <a:rPr sz="1300" b="0">
                <a:solidFill>
                  <a:srgbClr val="E6EDF3"/>
                </a:solidFill>
                <a:latin typeface="Inter"/>
              </a:rPr>
              <a:t>https://app.entreprise.local:18443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0" y="3246120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/>
            <a:r>
              <a:rPr sz="1300" b="0">
                <a:solidFill>
                  <a:srgbClr val="8B949E"/>
                </a:solidFill>
                <a:latin typeface="Inter"/>
              </a:rPr>
              <a:t/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9520" y="3703320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/>
            <a:r>
              <a:rPr sz="1300" b="0">
                <a:solidFill>
                  <a:srgbClr val="8B949E"/>
                </a:solidFill>
                <a:latin typeface="Inter"/>
              </a:rPr>
              <a:t>Certificats émis par la CA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89520" y="4160520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/>
            <a:r>
              <a:rPr sz="1300" b="0">
                <a:solidFill>
                  <a:srgbClr val="8B949E"/>
                </a:solidFill>
                <a:latin typeface="Inter"/>
              </a:rPr>
              <a:t>Caddy locale. En production 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0" y="4617720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/>
            <a:r>
              <a:rPr sz="1300" b="0">
                <a:solidFill>
                  <a:srgbClr val="8B949E"/>
                </a:solidFill>
                <a:latin typeface="Inter"/>
              </a:rPr>
              <a:t>Let's Encrypt + domaine réel.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/>
            <a:r>
              <a:rPr sz="1000" b="0">
                <a:solidFill>
                  <a:srgbClr val="8B949E"/>
                </a:solidFill>
                <a:latin typeface="Inter"/>
              </a:rPr>
              <a:t>Projet B1 INFRA · Hugo BERTON · Shakil KHALDI · Mathéo AMOUROUX  —  Groupe 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28655" y="64922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r"/>
            <a:r>
              <a:rPr sz="1000" b="0">
                <a:solidFill>
                  <a:srgbClr val="8B949E"/>
                </a:solidFill>
                <a:latin typeface="Inter"/>
              </a:rPr>
              <a:t>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/>
            <a:r>
              <a:rPr sz="3000" b="1">
                <a:solidFill>
                  <a:srgbClr val="58A6FF"/>
                </a:solidFill>
                <a:latin typeface="Inter"/>
              </a:rPr>
              <a:t>Étape 2 — preuve : WordPress en HTTPS via sous-domaine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2465892" y="1463040"/>
            <a:ext cx="7259910" cy="493776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2-wordpress-s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7332" y="1554480"/>
            <a:ext cx="7077030" cy="47548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/>
            <a:r>
              <a:rPr sz="1000" b="0">
                <a:solidFill>
                  <a:srgbClr val="8B949E"/>
                </a:solidFill>
                <a:latin typeface="Inter"/>
              </a:rPr>
              <a:t>Projet B1 INFRA · Hugo BERTON · Shakil KHALDI · Mathéo AMOUROUX  —  Groupe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4922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r"/>
            <a:r>
              <a:rPr sz="1000" b="0">
                <a:solidFill>
                  <a:srgbClr val="8B949E"/>
                </a:solidFill>
                <a:latin typeface="Inter"/>
              </a:rPr>
              <a:t>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/>
            <a:r>
              <a:rPr sz="3000" b="1">
                <a:solidFill>
                  <a:srgbClr val="58A6FF"/>
                </a:solidFill>
                <a:latin typeface="Inter"/>
              </a:rPr>
              <a:t>Étape 3 — Sauvegarde automatisée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91640"/>
            <a:ext cx="3423818" cy="420624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74520"/>
            <a:ext cx="2875178" cy="36576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/>
            <a:r>
              <a:rPr sz="1200" b="1">
                <a:solidFill>
                  <a:srgbClr val="58A6FF"/>
                </a:solidFill>
                <a:latin typeface="Inter"/>
              </a:rPr>
              <a:t>MÉCANISME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377440"/>
            <a:ext cx="2875178" cy="45720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/>
            <a:r>
              <a:rPr sz="1400" b="0">
                <a:solidFill>
                  <a:srgbClr val="E6EDF3"/>
                </a:solidFill>
                <a:latin typeface="Inter"/>
              </a:rPr>
              <a:t>• Planification cron */30 * * * *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2875178" cy="45720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/>
            <a:r>
              <a:rPr sz="1400" b="0">
                <a:solidFill>
                  <a:srgbClr val="E6EDF3"/>
                </a:solidFill>
                <a:latin typeface="Inter"/>
              </a:rPr>
              <a:t>• mysqldump de la base WordPress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91840"/>
            <a:ext cx="2875178" cy="45720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/>
            <a:r>
              <a:rPr sz="1400" b="0">
                <a:solidFill>
                  <a:srgbClr val="E6EDF3"/>
                </a:solidFill>
                <a:latin typeface="Inter"/>
              </a:rPr>
              <a:t>• tar.gz des fichiers du site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749040"/>
            <a:ext cx="2875178" cy="45720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/>
            <a:r>
              <a:rPr sz="1400" b="0">
                <a:solidFill>
                  <a:srgbClr val="E6EDF3"/>
                </a:solidFill>
                <a:latin typeface="Inter"/>
              </a:rPr>
              <a:t>• Rétention : 10 dernières sauvegardes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3938" y="1691640"/>
            <a:ext cx="3423818" cy="420624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58258" y="1874520"/>
            <a:ext cx="2875178" cy="36576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/>
            <a:r>
              <a:rPr sz="1200" b="1">
                <a:solidFill>
                  <a:srgbClr val="58A6FF"/>
                </a:solidFill>
                <a:latin typeface="Inter"/>
              </a:rPr>
              <a:t>STOCKAGE ISOLÉ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58258" y="2377440"/>
            <a:ext cx="2875178" cy="45720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/>
            <a:r>
              <a:rPr sz="1400" b="0">
                <a:solidFill>
                  <a:srgbClr val="E6EDF3"/>
                </a:solidFill>
                <a:latin typeface="Inter"/>
              </a:rPr>
              <a:t>• Volume dédié backup_storage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58258" y="2834640"/>
            <a:ext cx="2875178" cy="45720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/>
            <a:r>
              <a:rPr sz="1400" b="0">
                <a:solidFill>
                  <a:srgbClr val="E6EDF3"/>
                </a:solidFill>
                <a:latin typeface="Inter"/>
              </a:rPr>
              <a:t>• Hébergé en zone 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58258" y="3291840"/>
            <a:ext cx="2875178" cy="45720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/>
            <a:r>
              <a:rPr sz="1400" b="0">
                <a:solidFill>
                  <a:srgbClr val="E6EDF3"/>
                </a:solidFill>
                <a:latin typeface="Inter"/>
              </a:rPr>
              <a:t>   (sans Internet sortant)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58258" y="3749040"/>
            <a:ext cx="2875178" cy="45720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/>
            <a:r>
              <a:rPr sz="1400" b="0">
                <a:solidFill>
                  <a:srgbClr val="E6EDF3"/>
                </a:solidFill>
                <a:latin typeface="Inter"/>
              </a:rPr>
              <a:t>• Aucun port exposé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27796" y="1691640"/>
            <a:ext cx="3423818" cy="420624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02116" y="1874520"/>
            <a:ext cx="2875178" cy="36576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/>
            <a:r>
              <a:rPr sz="1200" b="1">
                <a:solidFill>
                  <a:srgbClr val="58A6FF"/>
                </a:solidFill>
                <a:latin typeface="Inter"/>
              </a:rPr>
              <a:t>RESTAURATION TESTÉE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02116" y="2377440"/>
            <a:ext cx="2875178" cy="45720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/>
            <a:r>
              <a:rPr sz="1400" b="0">
                <a:solidFill>
                  <a:srgbClr val="E6EDF3"/>
                </a:solidFill>
                <a:latin typeface="Inter"/>
              </a:rPr>
              <a:t>/restore.sh /backups/db_&lt;TS&gt;.sql.gz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02116" y="2834640"/>
            <a:ext cx="2875178" cy="45720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/>
            <a:r>
              <a:rPr sz="1400" b="0">
                <a:solidFill>
                  <a:srgbClr val="E6EDF3"/>
                </a:solidFill>
                <a:latin typeface="Inter"/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02116" y="3291840"/>
            <a:ext cx="2875178" cy="45720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/>
            <a:r>
              <a:rPr sz="1400" b="0">
                <a:solidFill>
                  <a:srgbClr val="E6EDF3"/>
                </a:solidFill>
                <a:latin typeface="Inter"/>
              </a:rPr>
              <a:t>Dernier dump 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02116" y="3749040"/>
            <a:ext cx="2875178" cy="45720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/>
            <a:r>
              <a:rPr sz="1400" b="0">
                <a:solidFill>
                  <a:srgbClr val="E6EDF3"/>
                </a:solidFill>
                <a:latin typeface="Inter"/>
              </a:rPr>
              <a:t>18,9 Ko (SQL) + 25,9 Mo (fichiers)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/>
            <a:r>
              <a:rPr sz="1000" b="0">
                <a:solidFill>
                  <a:srgbClr val="8B949E"/>
                </a:solidFill>
                <a:latin typeface="Inter"/>
              </a:rPr>
              <a:t>Projet B1 INFRA · Hugo BERTON · Shakil KHALDI · Mathéo AMOUROUX  —  Groupe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28655" y="64922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r"/>
            <a:r>
              <a:rPr sz="1000" b="0">
                <a:solidFill>
                  <a:srgbClr val="8B949E"/>
                </a:solidFill>
                <a:latin typeface="Inter"/>
              </a:rPr>
              <a:t>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/>
            <a:r>
              <a:rPr sz="3000" b="1">
                <a:solidFill>
                  <a:srgbClr val="58A6FF"/>
                </a:solidFill>
                <a:latin typeface="Inter"/>
              </a:rPr>
              <a:t>Sécurité &amp; accès distant — VPN WireGuard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91640"/>
            <a:ext cx="3423818" cy="420624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74520"/>
            <a:ext cx="2875178" cy="36576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/>
            <a:r>
              <a:rPr sz="1200" b="1">
                <a:solidFill>
                  <a:srgbClr val="58A6FF"/>
                </a:solidFill>
                <a:latin typeface="Inter"/>
              </a:rPr>
              <a:t>CHIFFREMENT &amp; AUTHENTIFICATION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377440"/>
            <a:ext cx="2875178" cy="45720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/>
            <a:r>
              <a:rPr sz="1400" b="0">
                <a:solidFill>
                  <a:srgbClr val="E6EDF3"/>
                </a:solidFill>
                <a:latin typeface="Inter"/>
              </a:rPr>
              <a:t>• WireGuard (ChaCha20-Poly1305)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2875178" cy="45720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/>
            <a:r>
              <a:rPr sz="1400" b="0">
                <a:solidFill>
                  <a:srgbClr val="E6EDF3"/>
                </a:solidFill>
                <a:latin typeface="Inter"/>
              </a:rPr>
              <a:t>• Clé par peer + PresharedKey unique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91840"/>
            <a:ext cx="2875178" cy="45720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/>
            <a:r>
              <a:rPr sz="1400" b="0">
                <a:solidFill>
                  <a:srgbClr val="E6EDF3"/>
                </a:solidFill>
                <a:latin typeface="Inter"/>
              </a:rPr>
              <a:t>   = authentification forte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749040"/>
            <a:ext cx="2875178" cy="45720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/>
            <a:r>
              <a:rPr sz="1400" b="0">
                <a:solidFill>
                  <a:srgbClr val="E6EDF3"/>
                </a:solidFill>
                <a:latin typeface="Inter"/>
              </a:rPr>
              <a:t>• Exposition minimale : 51820/udp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3938" y="1691640"/>
            <a:ext cx="3423818" cy="420624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58258" y="1874520"/>
            <a:ext cx="2875178" cy="36576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/>
            <a:r>
              <a:rPr sz="1200" b="1">
                <a:solidFill>
                  <a:srgbClr val="58A6FF"/>
                </a:solidFill>
                <a:latin typeface="Inter"/>
              </a:rPr>
              <a:t>RESSOURCE INTERNE VPN-ONLY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58258" y="2377440"/>
            <a:ext cx="2875178" cy="45720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/>
            <a:r>
              <a:rPr sz="1400" b="0">
                <a:solidFill>
                  <a:srgbClr val="E6EDF3"/>
                </a:solidFill>
                <a:latin typeface="Inter"/>
              </a:rPr>
              <a:t>• Service whoami sur 10.13.13.1:80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58258" y="2834640"/>
            <a:ext cx="2875178" cy="45720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/>
            <a:r>
              <a:rPr sz="1400" b="0">
                <a:solidFill>
                  <a:srgbClr val="E6EDF3"/>
                </a:solidFill>
                <a:latin typeface="Inter"/>
              </a:rPr>
              <a:t>• Jamais exposé publiquement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58258" y="3291840"/>
            <a:ext cx="2875178" cy="45720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/>
            <a:r>
              <a:rPr sz="1400" b="0">
                <a:solidFill>
                  <a:srgbClr val="E6EDF3"/>
                </a:solidFill>
                <a:latin typeface="Inter"/>
              </a:rPr>
              <a:t>• Démo : VPN actif → page OK,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58258" y="3749040"/>
            <a:ext cx="2875178" cy="45720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/>
            <a:r>
              <a:rPr sz="1400" b="0">
                <a:solidFill>
                  <a:srgbClr val="E6EDF3"/>
                </a:solidFill>
                <a:latin typeface="Inter"/>
              </a:rPr>
              <a:t>   VPN coupé → injoignable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27796" y="1691640"/>
            <a:ext cx="3423818" cy="420624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02116" y="1874520"/>
            <a:ext cx="2875178" cy="36576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/>
            <a:r>
              <a:rPr sz="1200" b="1">
                <a:solidFill>
                  <a:srgbClr val="58A6FF"/>
                </a:solidFill>
                <a:latin typeface="Inter"/>
              </a:rPr>
              <a:t>POSTURE GLOBALE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02116" y="2377440"/>
            <a:ext cx="2875178" cy="45720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/>
            <a:r>
              <a:rPr sz="1400" b="0">
                <a:solidFill>
                  <a:srgbClr val="E6EDF3"/>
                </a:solidFill>
                <a:latin typeface="Inter"/>
              </a:rPr>
              <a:t>• 3 ports publics seulement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02116" y="2834640"/>
            <a:ext cx="2875178" cy="45720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/>
            <a:r>
              <a:rPr sz="1400" b="0">
                <a:solidFill>
                  <a:srgbClr val="E6EDF3"/>
                </a:solidFill>
                <a:latin typeface="Inter"/>
              </a:rPr>
              <a:t>• TLS interne sur tout le web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02116" y="3291840"/>
            <a:ext cx="2875178" cy="45720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/>
            <a:r>
              <a:rPr sz="1400" b="0">
                <a:solidFill>
                  <a:srgbClr val="E6EDF3"/>
                </a:solidFill>
                <a:latin typeface="Inter"/>
              </a:rPr>
              <a:t>• Zone data sans Internet sortant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02116" y="3749040"/>
            <a:ext cx="2875178" cy="45720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/>
            <a:r>
              <a:rPr sz="1400" b="0">
                <a:solidFill>
                  <a:srgbClr val="E6EDF3"/>
                </a:solidFill>
                <a:latin typeface="Inter"/>
              </a:rPr>
              <a:t>• Production cohabitée intacte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/>
            <a:r>
              <a:rPr sz="1000" b="0">
                <a:solidFill>
                  <a:srgbClr val="8B949E"/>
                </a:solidFill>
                <a:latin typeface="Inter"/>
              </a:rPr>
              <a:t>Projet B1 INFRA · Hugo BERTON · Shakil KHALDI · Mathéo AMOUROUX  —  Groupe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28655" y="64922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r"/>
            <a:r>
              <a:rPr sz="1000" b="0">
                <a:solidFill>
                  <a:srgbClr val="8B949E"/>
                </a:solidFill>
                <a:latin typeface="Inter"/>
              </a:rPr>
              <a:t>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/>
            <a:r>
              <a:rPr sz="3000" b="1">
                <a:solidFill>
                  <a:srgbClr val="58A6FF"/>
                </a:solidFill>
                <a:latin typeface="Inter"/>
              </a:rPr>
              <a:t>Bonus — Annuaire LDAP &amp; partage de fichiers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91640"/>
            <a:ext cx="5486400" cy="420624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74519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/>
            <a:r>
              <a:rPr sz="1200" b="1">
                <a:solidFill>
                  <a:srgbClr val="58A6FF"/>
                </a:solidFill>
                <a:latin typeface="Inter"/>
              </a:rPr>
              <a:t>OPENLDAP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33172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/>
            <a:r>
              <a:rPr sz="1500" b="0">
                <a:solidFill>
                  <a:srgbClr val="E6EDF3"/>
                </a:solidFill>
                <a:latin typeface="Inter"/>
              </a:rPr>
              <a:t>• Base : dc=entreprise,dc=local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34639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/>
            <a:r>
              <a:rPr sz="1500" b="0">
                <a:solidFill>
                  <a:srgbClr val="E6EDF3"/>
                </a:solidFill>
                <a:latin typeface="Inter"/>
              </a:rPr>
              <a:t>• OU people · groups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33756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/>
            <a:r>
              <a:rPr sz="1500" b="0">
                <a:solidFill>
                  <a:srgbClr val="E6EDF3"/>
                </a:solidFill>
                <a:latin typeface="Inter"/>
              </a:rPr>
              <a:t>• 3 comptes provisionnés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84048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/>
            <a:r>
              <a:rPr sz="1500" b="0">
                <a:solidFill>
                  <a:srgbClr val="E6EDF3"/>
                </a:solidFill>
                <a:latin typeface="Inter"/>
              </a:rPr>
              <a:t>   hugo, shakil, matheo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34340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/>
            <a:r>
              <a:rPr sz="1500" b="0">
                <a:solidFill>
                  <a:srgbClr val="E6EDF3"/>
                </a:solidFill>
                <a:latin typeface="Inter"/>
              </a:rPr>
              <a:t>• Gestion centralisée des identités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92240" y="1691640"/>
            <a:ext cx="5120640" cy="420624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66560" y="1874519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/>
            <a:r>
              <a:rPr sz="1200" b="1">
                <a:solidFill>
                  <a:srgbClr val="58A6FF"/>
                </a:solidFill>
                <a:latin typeface="Inter"/>
              </a:rPr>
              <a:t>SAMBA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233172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/>
            <a:r>
              <a:rPr sz="1400" b="0">
                <a:solidFill>
                  <a:srgbClr val="E6EDF3"/>
                </a:solidFill>
                <a:latin typeface="Inter"/>
              </a:rPr>
              <a:t>• 2 partages 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278892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/>
            <a:r>
              <a:rPr sz="1400" b="0">
                <a:solidFill>
                  <a:srgbClr val="E6EDF3"/>
                </a:solidFill>
                <a:latin typeface="Inter"/>
              </a:rPr>
              <a:t>   partage-entreprise · technique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324612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/>
            <a:r>
              <a:rPr sz="1400" b="0">
                <a:solidFill>
                  <a:srgbClr val="E6EDF3"/>
                </a:solidFill>
                <a:latin typeface="Inter"/>
              </a:rPr>
              <a:t>• Utilisateurs &amp; permissions explicites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370332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/>
            <a:r>
              <a:rPr sz="1400" b="0">
                <a:solidFill>
                  <a:srgbClr val="E6EDF3"/>
                </a:solidFill>
                <a:latin typeface="Inter"/>
              </a:rPr>
              <a:t>• Journalisation des accès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0" y="416052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/>
            <a:r>
              <a:rPr sz="1400" b="0">
                <a:solidFill>
                  <a:srgbClr val="E6EDF3"/>
                </a:solidFill>
                <a:latin typeface="Inter"/>
              </a:rPr>
              <a:t>• Non exposé publiquement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461772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/>
            <a:r>
              <a:rPr sz="1400" b="0">
                <a:solidFill>
                  <a:srgbClr val="E6EDF3"/>
                </a:solidFill>
                <a:latin typeface="Inter"/>
              </a:rPr>
              <a:t>   (accès interne / via VPN)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/>
            <a:r>
              <a:rPr sz="1000" b="0">
                <a:solidFill>
                  <a:srgbClr val="8B949E"/>
                </a:solidFill>
                <a:latin typeface="Inter"/>
              </a:rPr>
              <a:t>Projet B1 INFRA · Hugo BERTON · Shakil KHALDI · Mathéo AMOUROUX  —  Groupe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28655" y="64922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r"/>
            <a:r>
              <a:rPr sz="1000" b="0">
                <a:solidFill>
                  <a:srgbClr val="8B949E"/>
                </a:solidFill>
                <a:latin typeface="Inter"/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/>
            <a:r>
              <a:rPr sz="3000" b="1">
                <a:solidFill>
                  <a:srgbClr val="58A6FF"/>
                </a:solidFill>
                <a:latin typeface="Inter"/>
              </a:rPr>
              <a:t>Couverture de la grille (note technique · coef. 3)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91640"/>
          <a:ext cx="1097280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914400"/>
                <a:gridCol w="5943600"/>
              </a:tblGrid>
              <a:tr h="613954"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8B949E"/>
                          </a:solidFill>
                        </a:rPr>
                        <a:t>Compétence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8B949E"/>
                          </a:solidFill>
                        </a:rPr>
                        <a:t>Pond.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8B949E"/>
                          </a:solidFill>
                        </a:rPr>
                        <a:t>Couverture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E6EDF3"/>
                          </a:solidFill>
                        </a:rPr>
                        <a:t>Mise en œuvre d'un réseau simple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58A6FF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6EDF3"/>
                          </a:solidFill>
                        </a:rPr>
                        <a:t>3 sous-réseaux, plan d'adressage, DNS/DHCP, routage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E6EDF3"/>
                          </a:solidFill>
                        </a:rPr>
                        <a:t>Infrastructure client-serveur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58A6FF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6EDF3"/>
                          </a:solidFill>
                        </a:rPr>
                        <a:t>Reverse proxy + 2 apps + DB + clients (web, VPN, Samba)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E6EDF3"/>
                          </a:solidFill>
                        </a:rPr>
                        <a:t>Administration d'un système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58A6FF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6EDF3"/>
                          </a:solidFill>
                        </a:rPr>
                        <a:t>Docker/Linux, services persistants, scripts Bash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E6EDF3"/>
                          </a:solidFill>
                        </a:rPr>
                        <a:t>Virtualisation &amp; maquette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58A6FF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6EDF3"/>
                          </a:solidFill>
                        </a:rPr>
                        <a:t>Stack Docker Compose fidèle au besoin client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E6EDF3"/>
                          </a:solidFill>
                        </a:rPr>
                        <a:t>Sécurisation (pare-feu, segmentation, VPN)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58A6FF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6EDF3"/>
                          </a:solidFill>
                        </a:rPr>
                        <a:t>nftables, TLS, VPN, exposition minimale, zone data isolée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</a:tr>
              <a:tr h="613956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E6EDF3"/>
                          </a:solidFill>
                        </a:rPr>
                        <a:t>Documentation technique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58A6FF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6EDF3"/>
                          </a:solidFill>
                        </a:rPr>
                        <a:t>Doc + READMEs + support oral + dépôt Git public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/>
            <a:r>
              <a:rPr sz="1000" b="0">
                <a:solidFill>
                  <a:srgbClr val="8B949E"/>
                </a:solidFill>
                <a:latin typeface="Inter"/>
              </a:rPr>
              <a:t>Projet B1 INFRA · Hugo BERTON · Shakil KHALDI · Mathéo AMOUROUX  —  Groupe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922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r"/>
            <a:r>
              <a:rPr sz="1000" b="0">
                <a:solidFill>
                  <a:srgbClr val="8B949E"/>
                </a:solidFill>
                <a:latin typeface="Inter"/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94560"/>
            <a:ext cx="10972800" cy="128016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ctr"/>
            <a:r>
              <a:rPr sz="6400" b="1">
                <a:solidFill>
                  <a:srgbClr val="E6EDF3"/>
                </a:solidFill>
                <a:latin typeface="Inter"/>
              </a:rPr>
              <a:t>Merci.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56616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ctr"/>
            <a:r>
              <a:rPr sz="2400" b="0">
                <a:solidFill>
                  <a:srgbClr val="8B949E"/>
                </a:solidFill>
                <a:latin typeface="Inter"/>
              </a:rPr>
              <a:t>Questions 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93776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ctr"/>
            <a:r>
              <a:rPr sz="1400" b="0">
                <a:solidFill>
                  <a:srgbClr val="8B949E"/>
                </a:solidFill>
                <a:latin typeface="Inter"/>
              </a:rPr>
              <a:t>Dépôt : github.com/H129hj/infra-entreprise-b1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34924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ctr"/>
            <a:r>
              <a:rPr sz="1400" b="0">
                <a:solidFill>
                  <a:srgbClr val="8B949E"/>
                </a:solidFill>
                <a:latin typeface="Inter"/>
              </a:rPr>
              <a:t>Hugo BERTON · Shakil KHALDI · Mathéo AMOUROUX  —  Groupe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/>
            <a:r>
              <a:rPr sz="1000" b="0">
                <a:solidFill>
                  <a:srgbClr val="8B949E"/>
                </a:solidFill>
                <a:latin typeface="Inter"/>
              </a:rPr>
              <a:t>Projet B1 INFRA · Hugo BERTON · Shakil KHALDI · Mathéo AMOUROUX  —  Groupe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922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r"/>
            <a:r>
              <a:rPr sz="1000" b="0">
                <a:solidFill>
                  <a:srgbClr val="8B949E"/>
                </a:solidFill>
                <a:latin typeface="Inter"/>
              </a:rP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